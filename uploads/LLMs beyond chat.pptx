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IBM Plex Sans"/>
      <p:regular r:id="rId27"/>
      <p:bold r:id="rId28"/>
      <p:italic r:id="rId29"/>
      <p:boldItalic r:id="rId30"/>
    </p:embeddedFont>
    <p:embeddedFont>
      <p:font typeface="Sora SemiBold"/>
      <p:regular r:id="rId31"/>
      <p:bold r:id="rId32"/>
    </p:embeddedFont>
    <p:embeddedFont>
      <p:font typeface="IBM Plex Sans Medium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  <p:embeddedFont>
      <p:font typeface="Sora Light"/>
      <p:regular r:id="rId41"/>
      <p:bold r:id="rId42"/>
    </p:embeddedFont>
    <p:embeddedFont>
      <p:font typeface="Sora ExtraLight"/>
      <p:regular r:id="rId43"/>
      <p:bold r:id="rId44"/>
    </p:embeddedFont>
    <p:embeddedFont>
      <p:font typeface="Sora"/>
      <p:regular r:id="rId45"/>
      <p:bold r:id="rId46"/>
    </p:embeddedFont>
    <p:embeddedFont>
      <p:font typeface="Sora Medium"/>
      <p:regular r:id="rId47"/>
      <p:bold r:id="rId48"/>
    </p:embeddedFont>
    <p:embeddedFont>
      <p:font typeface="Comfortaa"/>
      <p:regular r:id="rId49"/>
      <p:bold r:id="rId50"/>
    </p:embeddedFont>
    <p:embeddedFont>
      <p:font typeface="IBM Plex Sans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42" Type="http://schemas.openxmlformats.org/officeDocument/2006/relationships/font" Target="fonts/SoraLight-bold.fntdata"/><Relationship Id="rId41" Type="http://schemas.openxmlformats.org/officeDocument/2006/relationships/font" Target="fonts/SoraLight-regular.fntdata"/><Relationship Id="rId44" Type="http://schemas.openxmlformats.org/officeDocument/2006/relationships/font" Target="fonts/SoraExtraLight-bold.fntdata"/><Relationship Id="rId43" Type="http://schemas.openxmlformats.org/officeDocument/2006/relationships/font" Target="fonts/SoraExtraLight-regular.fntdata"/><Relationship Id="rId46" Type="http://schemas.openxmlformats.org/officeDocument/2006/relationships/font" Target="fonts/Sora-bold.fntdata"/><Relationship Id="rId45" Type="http://schemas.openxmlformats.org/officeDocument/2006/relationships/font" Target="fonts/Sora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raMedium-bold.fntdata"/><Relationship Id="rId47" Type="http://schemas.openxmlformats.org/officeDocument/2006/relationships/font" Target="fonts/SoraMedium-regular.fntdata"/><Relationship Id="rId49" Type="http://schemas.openxmlformats.org/officeDocument/2006/relationships/font" Target="fonts/Comforta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SemiBold-regular.fntdata"/><Relationship Id="rId30" Type="http://schemas.openxmlformats.org/officeDocument/2006/relationships/font" Target="fonts/IBMPlexSans-boldItalic.fntdata"/><Relationship Id="rId33" Type="http://schemas.openxmlformats.org/officeDocument/2006/relationships/font" Target="fonts/IBMPlexSansMedium-regular.fntdata"/><Relationship Id="rId32" Type="http://schemas.openxmlformats.org/officeDocument/2006/relationships/font" Target="fonts/SoraSemiBold-bold.fntdata"/><Relationship Id="rId35" Type="http://schemas.openxmlformats.org/officeDocument/2006/relationships/font" Target="fonts/IBMPlexSansMedium-italic.fntdata"/><Relationship Id="rId34" Type="http://schemas.openxmlformats.org/officeDocument/2006/relationships/font" Target="fonts/IBMPlexSansMedium-bold.fntdata"/><Relationship Id="rId37" Type="http://schemas.openxmlformats.org/officeDocument/2006/relationships/font" Target="fonts/Urbanist-regular.fntdata"/><Relationship Id="rId36" Type="http://schemas.openxmlformats.org/officeDocument/2006/relationships/font" Target="fonts/IBMPlexSansMedium-boldItalic.fntdata"/><Relationship Id="rId39" Type="http://schemas.openxmlformats.org/officeDocument/2006/relationships/font" Target="fonts/Urbanist-italic.fntdata"/><Relationship Id="rId38" Type="http://schemas.openxmlformats.org/officeDocument/2006/relationships/font" Target="fonts/Urbanis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BMPlexSans-bold.fntdata"/><Relationship Id="rId27" Type="http://schemas.openxmlformats.org/officeDocument/2006/relationships/font" Target="fonts/IBMPlexSans-regular.fntdata"/><Relationship Id="rId29" Type="http://schemas.openxmlformats.org/officeDocument/2006/relationships/font" Target="fonts/IBMPlexSans-italic.fntdata"/><Relationship Id="rId51" Type="http://schemas.openxmlformats.org/officeDocument/2006/relationships/font" Target="fonts/IBMPlexSansSemiBold-regular.fntdata"/><Relationship Id="rId50" Type="http://schemas.openxmlformats.org/officeDocument/2006/relationships/font" Target="fonts/Comfortaa-bold.fntdata"/><Relationship Id="rId53" Type="http://schemas.openxmlformats.org/officeDocument/2006/relationships/font" Target="fonts/IBMPlexSansSemiBold-italic.fntdata"/><Relationship Id="rId52" Type="http://schemas.openxmlformats.org/officeDocument/2006/relationships/font" Target="fonts/IBMPlexSa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IBMPlexSa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7cd3d139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7cd3d139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de6c7ee4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de6c7ee4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de6c7ee4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de6c7ee4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de6c7ee4a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de6c7ee4a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de6c7ee4a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de6c7ee4a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e6c7ee4a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e6c7ee4a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de6c7ee4a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de6c7ee4a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de6c7ee4a9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3de6c7ee4a9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de6c7ee4a9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de6c7ee4a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d61a5142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d61a5142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d61a51426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d61a51426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d61a51426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d61a51426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3d61a51426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3d61a51426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d61a51426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d61a51426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d61a514264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3d61a51426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d61a514264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3d61a514264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dffb941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3dffb941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3dea9b084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3dea9b084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3d7cd3d139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3d7cd3d139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3d7cd3d139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3d7cd3d139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5.png"/><Relationship Id="rId10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pAkElOzD5Rw" TargetMode="External"/><Relationship Id="rId5" Type="http://schemas.openxmlformats.org/officeDocument/2006/relationships/hyperlink" Target="https://excalidraw.com/#json=WrM9ViixPu2je5cVJZGCe,no_UoONhF6UxyMpTqltYk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/>
          <p:nvPr/>
        </p:nvSpPr>
        <p:spPr>
          <a:xfrm>
            <a:off x="758318" y="1576300"/>
            <a:ext cx="3422100" cy="3252000"/>
          </a:xfrm>
          <a:prstGeom prst="ellipse">
            <a:avLst/>
          </a:prstGeom>
          <a:noFill/>
          <a:ln cap="flat" cmpd="sng" w="8550">
            <a:solidFill>
              <a:srgbClr val="FF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/>
          <p:nvPr/>
        </p:nvSpPr>
        <p:spPr>
          <a:xfrm>
            <a:off x="1193512" y="1986200"/>
            <a:ext cx="2551800" cy="2421300"/>
          </a:xfrm>
          <a:prstGeom prst="ellipse">
            <a:avLst/>
          </a:prstGeom>
          <a:noFill/>
          <a:ln cap="flat" cmpd="sng" w="8550">
            <a:solidFill>
              <a:srgbClr val="FF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63"/>
          <p:cNvSpPr/>
          <p:nvPr/>
        </p:nvSpPr>
        <p:spPr>
          <a:xfrm>
            <a:off x="1656040" y="2466476"/>
            <a:ext cx="1626600" cy="1552200"/>
          </a:xfrm>
          <a:prstGeom prst="ellipse">
            <a:avLst/>
          </a:prstGeom>
          <a:noFill/>
          <a:ln cap="flat" cmpd="sng" w="8550">
            <a:solidFill>
              <a:srgbClr val="FF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63"/>
          <p:cNvSpPr txBox="1"/>
          <p:nvPr/>
        </p:nvSpPr>
        <p:spPr>
          <a:xfrm>
            <a:off x="111625" y="110925"/>
            <a:ext cx="790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LLMs beyond chat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37" name="Google Shape;937;p63"/>
          <p:cNvSpPr txBox="1"/>
          <p:nvPr/>
        </p:nvSpPr>
        <p:spPr>
          <a:xfrm>
            <a:off x="111625" y="956800"/>
            <a:ext cx="703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From Conversations to Real-World Automation</a:t>
            </a:r>
            <a:endParaRPr b="1" sz="37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38" name="Google Shape;93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91496">
            <a:off x="2888974" y="1912924"/>
            <a:ext cx="522475" cy="52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515" y="1897891"/>
            <a:ext cx="635574" cy="635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37657">
            <a:off x="580584" y="2917143"/>
            <a:ext cx="766825" cy="76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352307">
            <a:off x="2962953" y="4234383"/>
            <a:ext cx="478924" cy="4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872017">
            <a:off x="2745032" y="4251999"/>
            <a:ext cx="478925" cy="478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523" y="3036632"/>
            <a:ext cx="655076" cy="65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3" title="openAI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33210" y="2901946"/>
            <a:ext cx="655074" cy="66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29308" y="4112246"/>
            <a:ext cx="635576" cy="63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3" title="531842428_25363990819857517_3446131835938056375_n.jpg"/>
          <p:cNvPicPr preferRelativeResize="0"/>
          <p:nvPr/>
        </p:nvPicPr>
        <p:blipFill rotWithShape="1">
          <a:blip r:embed="rId10">
            <a:alphaModFix/>
          </a:blip>
          <a:srcRect b="13889" l="0" r="16072" t="22401"/>
          <a:stretch/>
        </p:blipFill>
        <p:spPr>
          <a:xfrm>
            <a:off x="6829450" y="2446940"/>
            <a:ext cx="1812000" cy="1832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47" name="Google Shape;947;p63"/>
          <p:cNvSpPr txBox="1"/>
          <p:nvPr/>
        </p:nvSpPr>
        <p:spPr>
          <a:xfrm>
            <a:off x="6655000" y="4327313"/>
            <a:ext cx="328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Presenter:</a:t>
            </a:r>
            <a:br>
              <a:rPr b="1" lang="en" sz="18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 sz="18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Ovidijus Parsiunas</a:t>
            </a:r>
            <a:endParaRPr b="1" sz="1800">
              <a:solidFill>
                <a:srgbClr val="25252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48" name="Google Shape;948;p63"/>
          <p:cNvCxnSpPr/>
          <p:nvPr/>
        </p:nvCxnSpPr>
        <p:spPr>
          <a:xfrm flipH="1">
            <a:off x="3681200" y="-101025"/>
            <a:ext cx="5252100" cy="53970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64"/>
          <p:cNvSpPr txBox="1"/>
          <p:nvPr/>
        </p:nvSpPr>
        <p:spPr>
          <a:xfrm>
            <a:off x="111625" y="110925"/>
            <a:ext cx="790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Today </a:t>
            </a:r>
            <a:r>
              <a:rPr b="1" lang="en" sz="30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今日</a:t>
            </a:r>
            <a:endParaRPr b="1" sz="30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5" name="Google Shape;955;p64"/>
          <p:cNvSpPr txBox="1"/>
          <p:nvPr/>
        </p:nvSpPr>
        <p:spPr>
          <a:xfrm>
            <a:off x="407534" y="1358975"/>
            <a:ext cx="49476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50" lIns="80650" spcFirstLastPara="1" rIns="80650" wrap="square" tIns="80650">
            <a:spAutoFit/>
          </a:bodyPr>
          <a:lstStyle/>
          <a:p>
            <a:pPr indent="-397725" lvl="0" marL="403327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088"/>
              <a:buFont typeface="Comfortaa"/>
              <a:buChar char="-"/>
            </a:pPr>
            <a:r>
              <a:rPr b="1" lang="en" sz="3088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LLMs as tools</a:t>
            </a:r>
            <a:endParaRPr b="1" sz="3088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6" name="Google Shape;956;p64"/>
          <p:cNvSpPr txBox="1"/>
          <p:nvPr/>
        </p:nvSpPr>
        <p:spPr>
          <a:xfrm>
            <a:off x="407532" y="1963632"/>
            <a:ext cx="73065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50" lIns="80650" spcFirstLastPara="1" rIns="80650" wrap="square" tIns="80650">
            <a:spAutoFit/>
          </a:bodyPr>
          <a:lstStyle/>
          <a:p>
            <a:pPr indent="-397725" lvl="0" marL="403327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088"/>
              <a:buFont typeface="Comfortaa"/>
              <a:buChar char="-"/>
            </a:pPr>
            <a:r>
              <a:rPr b="1" lang="en" sz="3088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Use them for automation</a:t>
            </a:r>
            <a:endParaRPr b="1" sz="3088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7" name="Google Shape;957;p64"/>
          <p:cNvSpPr txBox="1"/>
          <p:nvPr/>
        </p:nvSpPr>
        <p:spPr>
          <a:xfrm>
            <a:off x="407524" y="2601730"/>
            <a:ext cx="47241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50" lIns="80650" spcFirstLastPara="1" rIns="80650" wrap="square" tIns="80650">
            <a:spAutoFit/>
          </a:bodyPr>
          <a:lstStyle/>
          <a:p>
            <a:pPr indent="-397725" lvl="0" marL="403327" rtl="0" algn="l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3088"/>
              <a:buFont typeface="Comfortaa"/>
              <a:buChar char="-"/>
            </a:pPr>
            <a:r>
              <a:rPr b="1" lang="en" sz="3088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Examples</a:t>
            </a:r>
            <a:endParaRPr b="1" sz="3088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8" name="Google Shape;958;p64"/>
          <p:cNvSpPr txBox="1"/>
          <p:nvPr/>
        </p:nvSpPr>
        <p:spPr>
          <a:xfrm>
            <a:off x="306350" y="3239802"/>
            <a:ext cx="70179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50" lIns="80650" spcFirstLastPara="1" rIns="80650" wrap="square" tIns="80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88">
                <a:solidFill>
                  <a:srgbClr val="E06666"/>
                </a:solidFill>
                <a:latin typeface="Comfortaa"/>
                <a:ea typeface="Comfortaa"/>
                <a:cs typeface="Comfortaa"/>
                <a:sym typeface="Comfortaa"/>
              </a:rPr>
              <a:t>-&gt;</a:t>
            </a:r>
            <a:r>
              <a:rPr b="1" lang="en" sz="3088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Automate your world</a:t>
            </a:r>
            <a:endParaRPr b="1" sz="3088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65"/>
          <p:cNvSpPr txBox="1"/>
          <p:nvPr/>
        </p:nvSpPr>
        <p:spPr>
          <a:xfrm>
            <a:off x="228600" y="10036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5" name="Google Shape;965;p65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6" name="Google Shape;966;p65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7" name="Google Shape;967;p65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8" name="Google Shape;968;p65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9" name="Google Shape;969;p65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0" name="Google Shape;970;p65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1" name="Google Shape;971;p65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65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3" name="Google Shape;973;p65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4" name="Google Shape;974;p65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6" name="Google Shape;976;p65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77" name="Google Shape;977;p65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8" name="Google Shape;978;p65"/>
          <p:cNvSpPr txBox="1"/>
          <p:nvPr/>
        </p:nvSpPr>
        <p:spPr>
          <a:xfrm>
            <a:off x="2902079" y="29746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</a:t>
            </a:r>
            <a:endParaRPr b="1" sz="900">
              <a:solidFill>
                <a:srgbClr val="25252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9" name="Google Shape;979;p65"/>
          <p:cNvSpPr txBox="1"/>
          <p:nvPr/>
        </p:nvSpPr>
        <p:spPr>
          <a:xfrm>
            <a:off x="2878879" y="359131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1" sz="9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80" name="Google Shape;980;p65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1" name="Google Shape;981;p65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5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5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5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5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5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7" name="Google Shape;987;p65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65"/>
          <p:cNvCxnSpPr>
            <a:stCxn id="984" idx="1"/>
            <a:endCxn id="981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65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65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65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65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65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65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65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65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7" name="Google Shape;997;p65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8" name="Google Shape;998;p65"/>
          <p:cNvSpPr txBox="1"/>
          <p:nvPr/>
        </p:nvSpPr>
        <p:spPr>
          <a:xfrm>
            <a:off x="9866575" y="2654675"/>
            <a:ext cx="349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So, how do you go from this, to something that controls the world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66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5" name="Google Shape;1005;p66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06" name="Google Shape;1006;p66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07" name="Google Shape;1007;p66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08" name="Google Shape;1008;p66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9" name="Google Shape;1009;p66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66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1" name="Google Shape;1011;p66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2" name="Google Shape;1012;p66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3" name="Google Shape;1013;p66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4" name="Google Shape;1014;p66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5" name="Google Shape;1015;p66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16" name="Google Shape;1016;p66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p66"/>
          <p:cNvSpPr txBox="1"/>
          <p:nvPr/>
        </p:nvSpPr>
        <p:spPr>
          <a:xfrm>
            <a:off x="2902079" y="29746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</a:t>
            </a:r>
            <a:endParaRPr b="1" sz="900">
              <a:solidFill>
                <a:srgbClr val="25252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8" name="Google Shape;1018;p66"/>
          <p:cNvSpPr txBox="1"/>
          <p:nvPr/>
        </p:nvSpPr>
        <p:spPr>
          <a:xfrm>
            <a:off x="2878879" y="359131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1" sz="90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19" name="Google Shape;1019;p66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0" name="Google Shape;1020;p66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6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6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6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6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6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6" name="Google Shape;1026;p66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66"/>
          <p:cNvCxnSpPr>
            <a:stCxn id="1023" idx="1"/>
            <a:endCxn id="1020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66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6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66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66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66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66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66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66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6" name="Google Shape;1036;p66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7" name="Google Shape;1037;p66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8" name="Google Shape;1038;p66"/>
          <p:cNvSpPr txBox="1"/>
          <p:nvPr/>
        </p:nvSpPr>
        <p:spPr>
          <a:xfrm>
            <a:off x="9866575" y="2654675"/>
            <a:ext cx="39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where you ask AI a question, and provide a list of things that it can use to help it achieve what user has asked for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67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5" name="Google Shape;1045;p67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6" name="Google Shape;1046;p67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8" name="Google Shape;1048;p67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9" name="Google Shape;1049;p67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1" name="Google Shape;1051;p67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67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67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67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5" name="Google Shape;1055;p67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56" name="Google Shape;1056;p67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7" name="Google Shape;1057;p67"/>
          <p:cNvSpPr txBox="1"/>
          <p:nvPr/>
        </p:nvSpPr>
        <p:spPr>
          <a:xfrm>
            <a:off x="2435849" y="295482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getForecast()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8" name="Google Shape;1058;p67"/>
          <p:cNvSpPr txBox="1"/>
          <p:nvPr/>
        </p:nvSpPr>
        <p:spPr>
          <a:xfrm>
            <a:off x="2758929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getForecast()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59" name="Google Shape;1059;p67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67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7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7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7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7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7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6" name="Google Shape;1066;p67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67"/>
          <p:cNvCxnSpPr>
            <a:stCxn id="1063" idx="1"/>
            <a:endCxn id="1060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67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67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7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7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67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67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67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5" name="Google Shape;1075;p67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6" name="Google Shape;1076;p67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7" name="Google Shape;1077;p67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8" name="Google Shape;1078;p67"/>
          <p:cNvSpPr txBox="1"/>
          <p:nvPr/>
        </p:nvSpPr>
        <p:spPr>
          <a:xfrm>
            <a:off x="9866575" y="2654675"/>
            <a:ext cx="39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where you ask AI a question, and provide a list of things that it can use to help it achieve what user has asked for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79" name="Google Shape;1079;p67"/>
          <p:cNvCxnSpPr/>
          <p:nvPr/>
        </p:nvCxnSpPr>
        <p:spPr>
          <a:xfrm>
            <a:off x="2360004" y="3826163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0" name="Google Shape;1080;p67"/>
          <p:cNvSpPr txBox="1"/>
          <p:nvPr/>
        </p:nvSpPr>
        <p:spPr>
          <a:xfrm>
            <a:off x="2592287" y="3826175"/>
            <a:ext cx="162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19°C and partly cloudy</a:t>
            </a:r>
            <a:endParaRPr b="1" sz="10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081" name="Google Shape;1081;p67"/>
          <p:cNvCxnSpPr/>
          <p:nvPr/>
        </p:nvCxnSpPr>
        <p:spPr>
          <a:xfrm rot="10800000">
            <a:off x="2396879" y="4169238"/>
            <a:ext cx="1955400" cy="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67"/>
          <p:cNvSpPr txBox="1"/>
          <p:nvPr/>
        </p:nvSpPr>
        <p:spPr>
          <a:xfrm>
            <a:off x="2899662" y="4156800"/>
            <a:ext cx="162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1" sz="10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8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9" name="Google Shape;1089;p68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0" name="Google Shape;1090;p68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1" name="Google Shape;1091;p68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2" name="Google Shape;1092;p68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3" name="Google Shape;1093;p68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68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5" name="Google Shape;1095;p68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6" name="Google Shape;1096;p68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7" name="Google Shape;1097;p68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8" name="Google Shape;1098;p68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9" name="Google Shape;1099;p68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00" name="Google Shape;1100;p68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1" name="Google Shape;1101;p68"/>
          <p:cNvSpPr txBox="1"/>
          <p:nvPr/>
        </p:nvSpPr>
        <p:spPr>
          <a:xfrm>
            <a:off x="2389849" y="269977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getForecast()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2" name="Google Shape;1102;p68"/>
          <p:cNvSpPr txBox="1"/>
          <p:nvPr/>
        </p:nvSpPr>
        <p:spPr>
          <a:xfrm>
            <a:off x="2758929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getGameScore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03" name="Google Shape;1103;p68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68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8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8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8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0" name="Google Shape;1110;p68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68"/>
          <p:cNvCxnSpPr>
            <a:stCxn id="1107" idx="1"/>
            <a:endCxn id="1104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68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68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68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68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68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68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68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68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0" name="Google Shape;1120;p68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1" name="Google Shape;1121;p68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2" name="Google Shape;1122;p68"/>
          <p:cNvSpPr txBox="1"/>
          <p:nvPr/>
        </p:nvSpPr>
        <p:spPr>
          <a:xfrm>
            <a:off x="9866575" y="2654675"/>
            <a:ext cx="39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where you ask AI a question, and provide a list of things that it can use to help it achieve what user has asked for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123" name="Google Shape;1123;p68"/>
          <p:cNvCxnSpPr/>
          <p:nvPr/>
        </p:nvCxnSpPr>
        <p:spPr>
          <a:xfrm>
            <a:off x="2360004" y="3826163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4" name="Google Shape;1124;p68"/>
          <p:cNvSpPr txBox="1"/>
          <p:nvPr/>
        </p:nvSpPr>
        <p:spPr>
          <a:xfrm>
            <a:off x="3080896" y="3817025"/>
            <a:ext cx="47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4 - 1</a:t>
            </a:r>
            <a:endParaRPr b="1" sz="10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25" name="Google Shape;1125;p68"/>
          <p:cNvCxnSpPr/>
          <p:nvPr/>
        </p:nvCxnSpPr>
        <p:spPr>
          <a:xfrm rot="10800000">
            <a:off x="2396879" y="4169238"/>
            <a:ext cx="1955400" cy="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6" name="Google Shape;1126;p68"/>
          <p:cNvSpPr txBox="1"/>
          <p:nvPr/>
        </p:nvSpPr>
        <p:spPr>
          <a:xfrm>
            <a:off x="2899662" y="4156800"/>
            <a:ext cx="162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1" sz="10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7" name="Google Shape;1127;p68"/>
          <p:cNvSpPr txBox="1"/>
          <p:nvPr/>
        </p:nvSpPr>
        <p:spPr>
          <a:xfrm>
            <a:off x="3063300" y="2920800"/>
            <a:ext cx="118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etGameScore()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Google Shape;113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69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4" name="Google Shape;1134;p69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5" name="Google Shape;1135;p69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6" name="Google Shape;1136;p69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7" name="Google Shape;1137;p69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8" name="Google Shape;1138;p69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9" name="Google Shape;1139;p69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0" name="Google Shape;1140;p69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1" name="Google Shape;1141;p69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42" name="Google Shape;1142;p69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43" name="Google Shape;1143;p69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4" name="Google Shape;1144;p69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45" name="Google Shape;1145;p69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6" name="Google Shape;1146;p69"/>
          <p:cNvSpPr txBox="1"/>
          <p:nvPr/>
        </p:nvSpPr>
        <p:spPr>
          <a:xfrm>
            <a:off x="2389849" y="269977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getForecast()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47" name="Google Shape;1147;p69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9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69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9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9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69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3" name="Google Shape;1153;p69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9"/>
          <p:cNvCxnSpPr>
            <a:stCxn id="1150" idx="1"/>
            <a:endCxn id="1147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9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9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69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69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69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9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9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69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3" name="Google Shape;1163;p69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4" name="Google Shape;1164;p69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5" name="Google Shape;1165;p69"/>
          <p:cNvSpPr txBox="1"/>
          <p:nvPr/>
        </p:nvSpPr>
        <p:spPr>
          <a:xfrm>
            <a:off x="9866575" y="2654675"/>
            <a:ext cx="396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where you make a request, and provide a list of things that AI can use to help it achieve what user has asked for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166" name="Google Shape;1166;p69"/>
          <p:cNvCxnSpPr/>
          <p:nvPr/>
        </p:nvCxnSpPr>
        <p:spPr>
          <a:xfrm>
            <a:off x="5812254" y="3258538"/>
            <a:ext cx="917700" cy="4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7" name="Google Shape;1167;p69"/>
          <p:cNvSpPr txBox="1"/>
          <p:nvPr/>
        </p:nvSpPr>
        <p:spPr>
          <a:xfrm>
            <a:off x="3063300" y="2920800"/>
            <a:ext cx="118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getStockPrice()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8" name="Google Shape;1168;p69"/>
          <p:cNvSpPr txBox="1"/>
          <p:nvPr/>
        </p:nvSpPr>
        <p:spPr>
          <a:xfrm>
            <a:off x="5799199" y="2890225"/>
            <a:ext cx="100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getForecast()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9" name="Google Shape;1169;p69"/>
          <p:cNvSpPr/>
          <p:nvPr/>
        </p:nvSpPr>
        <p:spPr>
          <a:xfrm>
            <a:off x="6995000" y="2834275"/>
            <a:ext cx="1188000" cy="9885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0" name="Google Shape;1170;p69"/>
          <p:cNvSpPr txBox="1"/>
          <p:nvPr/>
        </p:nvSpPr>
        <p:spPr>
          <a:xfrm>
            <a:off x="7074629" y="3154975"/>
            <a:ext cx="12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Another API</a:t>
            </a:r>
            <a:endParaRPr b="1" sz="3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71" name="Google Shape;1171;p69"/>
          <p:cNvSpPr/>
          <p:nvPr/>
        </p:nvSpPr>
        <p:spPr>
          <a:xfrm>
            <a:off x="6995000" y="4032900"/>
            <a:ext cx="1188000" cy="9885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2" name="Google Shape;1172;p69"/>
          <p:cNvSpPr txBox="1"/>
          <p:nvPr/>
        </p:nvSpPr>
        <p:spPr>
          <a:xfrm>
            <a:off x="7074629" y="4353600"/>
            <a:ext cx="12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MCP server</a:t>
            </a:r>
            <a:endParaRPr b="1" sz="3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73" name="Google Shape;1173;p69"/>
          <p:cNvCxnSpPr/>
          <p:nvPr/>
        </p:nvCxnSpPr>
        <p:spPr>
          <a:xfrm>
            <a:off x="5730429" y="4032888"/>
            <a:ext cx="1085400" cy="46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4" name="Google Shape;1174;p69"/>
          <p:cNvSpPr txBox="1"/>
          <p:nvPr/>
        </p:nvSpPr>
        <p:spPr>
          <a:xfrm>
            <a:off x="5761675" y="3731900"/>
            <a:ext cx="118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getStockPrice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75" name="Google Shape;1175;p69"/>
          <p:cNvCxnSpPr/>
          <p:nvPr/>
        </p:nvCxnSpPr>
        <p:spPr>
          <a:xfrm rot="10800000">
            <a:off x="2307104" y="3569513"/>
            <a:ext cx="1955400" cy="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6" name="Google Shape;1176;p69"/>
          <p:cNvSpPr txBox="1"/>
          <p:nvPr/>
        </p:nvSpPr>
        <p:spPr>
          <a:xfrm>
            <a:off x="2880637" y="3557075"/>
            <a:ext cx="162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1" sz="10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70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83" name="Google Shape;1183;p70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4" name="Google Shape;1184;p70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5" name="Google Shape;1185;p70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6" name="Google Shape;1186;p70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87" name="Google Shape;1187;p70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8" name="Google Shape;1188;p70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9" name="Google Shape;1189;p70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0" name="Google Shape;1190;p70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91" name="Google Shape;1191;p70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92" name="Google Shape;1192;p70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3" name="Google Shape;1193;p70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94" name="Google Shape;1194;p70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5" name="Google Shape;1195;p70"/>
          <p:cNvSpPr txBox="1"/>
          <p:nvPr/>
        </p:nvSpPr>
        <p:spPr>
          <a:xfrm>
            <a:off x="2445886" y="274812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</a:t>
            </a: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toggleLight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96" name="Google Shape;1196;p70"/>
          <p:cNvSpPr txBox="1"/>
          <p:nvPr/>
        </p:nvSpPr>
        <p:spPr>
          <a:xfrm>
            <a:off x="28317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toggleHeater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97" name="Google Shape;1197;p70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8" name="Google Shape;1198;p70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70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70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70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70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70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4" name="Google Shape;1204;p70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70"/>
          <p:cNvCxnSpPr>
            <a:stCxn id="1201" idx="1"/>
            <a:endCxn id="1198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70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70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70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70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70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70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70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70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14" name="Google Shape;1214;p70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15" name="Google Shape;1215;p70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16" name="Google Shape;1216;p70"/>
          <p:cNvSpPr txBox="1"/>
          <p:nvPr/>
        </p:nvSpPr>
        <p:spPr>
          <a:xfrm>
            <a:off x="9428925" y="2691350"/>
            <a:ext cx="396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 can be used to give LLM the power to act/execute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7" name="Google Shape;1217;p70"/>
          <p:cNvSpPr txBox="1"/>
          <p:nvPr/>
        </p:nvSpPr>
        <p:spPr>
          <a:xfrm>
            <a:off x="3114125" y="29548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toggleHeater()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1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4" name="Google Shape;1224;p71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5" name="Google Shape;1225;p71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6" name="Google Shape;1226;p71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7" name="Google Shape;1227;p71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8" name="Google Shape;1228;p71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29" name="Google Shape;1229;p71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30" name="Google Shape;1230;p71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31" name="Google Shape;1231;p71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2" name="Google Shape;1232;p71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3" name="Google Shape;1233;p71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34" name="Google Shape;1234;p71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35" name="Google Shape;1235;p71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6" name="Google Shape;1236;p71"/>
          <p:cNvSpPr txBox="1"/>
          <p:nvPr/>
        </p:nvSpPr>
        <p:spPr>
          <a:xfrm>
            <a:off x="2485449" y="25610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Question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toggleLight()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7" name="Google Shape;1237;p71"/>
          <p:cNvSpPr txBox="1"/>
          <p:nvPr/>
        </p:nvSpPr>
        <p:spPr>
          <a:xfrm>
            <a:off x="28317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getTemperature()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38" name="Google Shape;1238;p71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9" name="Google Shape;1239;p71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1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1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71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1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1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5" name="Google Shape;1245;p71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71"/>
          <p:cNvCxnSpPr>
            <a:stCxn id="1242" idx="1"/>
            <a:endCxn id="1239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71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71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71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71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71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71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71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p71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55" name="Google Shape;1255;p71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56" name="Google Shape;1256;p71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57" name="Google Shape;1257;p71"/>
          <p:cNvSpPr txBox="1"/>
          <p:nvPr/>
        </p:nvSpPr>
        <p:spPr>
          <a:xfrm>
            <a:off x="9428925" y="2691350"/>
            <a:ext cx="396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 can be used to give LLM the power to execute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8" name="Google Shape;1258;p71"/>
          <p:cNvSpPr txBox="1"/>
          <p:nvPr/>
        </p:nvSpPr>
        <p:spPr>
          <a:xfrm>
            <a:off x="3063450" y="27481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toggleHeater()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59" name="Google Shape;1259;p71"/>
          <p:cNvCxnSpPr/>
          <p:nvPr/>
        </p:nvCxnSpPr>
        <p:spPr>
          <a:xfrm>
            <a:off x="2360004" y="38327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71"/>
          <p:cNvSpPr txBox="1"/>
          <p:nvPr/>
        </p:nvSpPr>
        <p:spPr>
          <a:xfrm>
            <a:off x="2897750" y="2948200"/>
            <a:ext cx="124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getTemperature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1" name="Google Shape;1261;p71"/>
          <p:cNvSpPr txBox="1"/>
          <p:nvPr/>
        </p:nvSpPr>
        <p:spPr>
          <a:xfrm>
            <a:off x="3163466" y="381701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0°C</a:t>
            </a:r>
            <a:endParaRPr b="1" sz="11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62" name="Google Shape;1262;p71"/>
          <p:cNvCxnSpPr/>
          <p:nvPr/>
        </p:nvCxnSpPr>
        <p:spPr>
          <a:xfrm rot="10800000">
            <a:off x="2389854" y="40785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71"/>
          <p:cNvSpPr txBox="1"/>
          <p:nvPr/>
        </p:nvSpPr>
        <p:spPr>
          <a:xfrm>
            <a:off x="2881750" y="407860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toggleHeater()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64" name="Google Shape;1264;p71"/>
          <p:cNvCxnSpPr/>
          <p:nvPr/>
        </p:nvCxnSpPr>
        <p:spPr>
          <a:xfrm>
            <a:off x="2360004" y="4417563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5" name="Google Shape;1265;p71"/>
          <p:cNvSpPr txBox="1"/>
          <p:nvPr/>
        </p:nvSpPr>
        <p:spPr>
          <a:xfrm>
            <a:off x="3063291" y="442026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Fail</a:t>
            </a:r>
            <a:endParaRPr b="1" sz="11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66" name="Google Shape;1266;p71"/>
          <p:cNvCxnSpPr/>
          <p:nvPr/>
        </p:nvCxnSpPr>
        <p:spPr>
          <a:xfrm rot="10800000">
            <a:off x="2389854" y="47249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71"/>
          <p:cNvSpPr txBox="1"/>
          <p:nvPr/>
        </p:nvSpPr>
        <p:spPr>
          <a:xfrm>
            <a:off x="2757791" y="47619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toggleHeater()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8" name="Google Shape;1268;p71"/>
          <p:cNvSpPr txBox="1"/>
          <p:nvPr/>
        </p:nvSpPr>
        <p:spPr>
          <a:xfrm>
            <a:off x="9590050" y="3834275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of the orchestrator - agentic loop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9" name="Google Shape;1269;p71"/>
          <p:cNvSpPr txBox="1"/>
          <p:nvPr/>
        </p:nvSpPr>
        <p:spPr>
          <a:xfrm>
            <a:off x="9590050" y="4279275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Costs more money every step because building up context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oogle Shape;127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72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6" name="Google Shape;1276;p72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7" name="Google Shape;1277;p72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8" name="Google Shape;1278;p72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9" name="Google Shape;1279;p72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0" name="Google Shape;1280;p72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1" name="Google Shape;1281;p72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2" name="Google Shape;1282;p72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3" name="Google Shape;1283;p72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4" name="Google Shape;1284;p72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5" name="Google Shape;1285;p72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6" name="Google Shape;1286;p72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87" name="Google Shape;1287;p72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72"/>
          <p:cNvSpPr txBox="1"/>
          <p:nvPr/>
        </p:nvSpPr>
        <p:spPr>
          <a:xfrm>
            <a:off x="2445886" y="274812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</a:t>
            </a: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9" name="Google Shape;1289;p72"/>
          <p:cNvSpPr txBox="1"/>
          <p:nvPr/>
        </p:nvSpPr>
        <p:spPr>
          <a:xfrm>
            <a:off x="3063291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90" name="Google Shape;1290;p72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1" name="Google Shape;1291;p72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72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72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72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72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72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7" name="Google Shape;1297;p72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72"/>
          <p:cNvCxnSpPr>
            <a:stCxn id="1294" idx="1"/>
            <a:endCxn id="1291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72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72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72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72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72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72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72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72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7" name="Google Shape;1307;p72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8" name="Google Shape;1308;p72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9" name="Google Shape;1309;p72"/>
          <p:cNvSpPr txBox="1"/>
          <p:nvPr/>
        </p:nvSpPr>
        <p:spPr>
          <a:xfrm>
            <a:off x="9428925" y="2691350"/>
            <a:ext cx="396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 can be used to give LLM the power to act/execute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72"/>
          <p:cNvSpPr txBox="1"/>
          <p:nvPr/>
        </p:nvSpPr>
        <p:spPr>
          <a:xfrm>
            <a:off x="3114125" y="29548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11" name="Google Shape;1311;p72"/>
          <p:cNvSpPr txBox="1"/>
          <p:nvPr/>
        </p:nvSpPr>
        <p:spPr>
          <a:xfrm>
            <a:off x="3063300" y="29548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6" name="Google Shape;131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73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18" name="Google Shape;1318;p73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73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0" name="Google Shape;1320;p73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1" name="Google Shape;1321;p73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2" name="Google Shape;1322;p73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3" name="Google Shape;1323;p73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4" name="Google Shape;1324;p73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5" name="Google Shape;1325;p73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6" name="Google Shape;1326;p73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7" name="Google Shape;1327;p73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8" name="Google Shape;1328;p73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9" name="Google Shape;1329;p73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73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73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73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3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73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5" name="Google Shape;1335;p73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73"/>
          <p:cNvCxnSpPr>
            <a:stCxn id="1332" idx="1"/>
            <a:endCxn id="1329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73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73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73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73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73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3" name="Google Shape;1343;p73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p73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5" name="Google Shape;1345;p73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6" name="Google Shape;1346;p73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47" name="Google Shape;1347;p73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8" name="Google Shape;1348;p73"/>
          <p:cNvSpPr txBox="1"/>
          <p:nvPr/>
        </p:nvSpPr>
        <p:spPr>
          <a:xfrm>
            <a:off x="2485449" y="25610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</a:t>
            </a: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9" name="Google Shape;1349;p73"/>
          <p:cNvSpPr txBox="1"/>
          <p:nvPr/>
        </p:nvSpPr>
        <p:spPr>
          <a:xfrm>
            <a:off x="29854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0" name="Google Shape;1350;p73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1" name="Google Shape;1351;p73"/>
          <p:cNvSpPr txBox="1"/>
          <p:nvPr/>
        </p:nvSpPr>
        <p:spPr>
          <a:xfrm>
            <a:off x="3063450" y="27481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2" name="Google Shape;1352;p73"/>
          <p:cNvCxnSpPr/>
          <p:nvPr/>
        </p:nvCxnSpPr>
        <p:spPr>
          <a:xfrm>
            <a:off x="2360004" y="38327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3" name="Google Shape;1353;p73"/>
          <p:cNvSpPr txBox="1"/>
          <p:nvPr/>
        </p:nvSpPr>
        <p:spPr>
          <a:xfrm>
            <a:off x="3063291" y="382491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10HP</a:t>
            </a:r>
            <a:endParaRPr b="1" sz="11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4" name="Google Shape;1354;p73"/>
          <p:cNvCxnSpPr/>
          <p:nvPr/>
        </p:nvCxnSpPr>
        <p:spPr>
          <a:xfrm rot="10800000">
            <a:off x="2389854" y="40785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5" name="Google Shape;1355;p73"/>
          <p:cNvSpPr txBox="1"/>
          <p:nvPr/>
        </p:nvSpPr>
        <p:spPr>
          <a:xfrm>
            <a:off x="3026875" y="407860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6" name="Google Shape;1356;p73"/>
          <p:cNvCxnSpPr/>
          <p:nvPr/>
        </p:nvCxnSpPr>
        <p:spPr>
          <a:xfrm>
            <a:off x="2360004" y="4417563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7" name="Google Shape;1357;p73"/>
          <p:cNvSpPr txBox="1"/>
          <p:nvPr/>
        </p:nvSpPr>
        <p:spPr>
          <a:xfrm>
            <a:off x="3063291" y="442026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0HP</a:t>
            </a:r>
            <a:endParaRPr b="1" sz="11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58" name="Google Shape;1358;p73"/>
          <p:cNvCxnSpPr/>
          <p:nvPr/>
        </p:nvCxnSpPr>
        <p:spPr>
          <a:xfrm rot="10800000">
            <a:off x="2389854" y="47249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9" name="Google Shape;1359;p73"/>
          <p:cNvSpPr txBox="1"/>
          <p:nvPr/>
        </p:nvSpPr>
        <p:spPr>
          <a:xfrm>
            <a:off x="2985466" y="47619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60" name="Google Shape;1360;p73"/>
          <p:cNvSpPr txBox="1"/>
          <p:nvPr/>
        </p:nvSpPr>
        <p:spPr>
          <a:xfrm>
            <a:off x="3063450" y="294820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61" name="Google Shape;1361;p73"/>
          <p:cNvSpPr txBox="1"/>
          <p:nvPr/>
        </p:nvSpPr>
        <p:spPr>
          <a:xfrm>
            <a:off x="9372025" y="1964950"/>
            <a:ext cx="396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 can be used to give LLM the power to execute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62" name="Google Shape;1362;p73"/>
          <p:cNvSpPr txBox="1"/>
          <p:nvPr/>
        </p:nvSpPr>
        <p:spPr>
          <a:xfrm>
            <a:off x="9533150" y="3107875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of the orchestrator - agentic loop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63" name="Google Shape;1363;p73"/>
          <p:cNvSpPr txBox="1"/>
          <p:nvPr/>
        </p:nvSpPr>
        <p:spPr>
          <a:xfrm>
            <a:off x="9533150" y="3552875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Costs more money every step because building up context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64" name="Google Shape;1364;p73"/>
          <p:cNvSpPr txBox="1"/>
          <p:nvPr/>
        </p:nvSpPr>
        <p:spPr>
          <a:xfrm>
            <a:off x="9579825" y="3964800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about AI conversations?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74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71" name="Google Shape;1371;p74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2" name="Google Shape;1372;p74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3" name="Google Shape;1373;p74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74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75" name="Google Shape;1375;p74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6" name="Google Shape;1376;p74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7" name="Google Shape;1377;p74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8" name="Google Shape;1378;p74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79" name="Google Shape;1379;p74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0" name="Google Shape;1380;p74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1" name="Google Shape;1381;p74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82" name="Google Shape;1382;p74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74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74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74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74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74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8" name="Google Shape;1388;p74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74"/>
          <p:cNvCxnSpPr>
            <a:stCxn id="1385" idx="1"/>
            <a:endCxn id="1382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74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74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74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74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74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74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74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7" name="Google Shape;1397;p74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98" name="Google Shape;1398;p74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99" name="Google Shape;1399;p74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00" name="Google Shape;1400;p74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74"/>
          <p:cNvSpPr txBox="1"/>
          <p:nvPr/>
        </p:nvSpPr>
        <p:spPr>
          <a:xfrm>
            <a:off x="2485449" y="25610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2" name="Google Shape;1402;p74"/>
          <p:cNvSpPr txBox="1"/>
          <p:nvPr/>
        </p:nvSpPr>
        <p:spPr>
          <a:xfrm>
            <a:off x="29854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03" name="Google Shape;1403;p74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4" name="Google Shape;1404;p74"/>
          <p:cNvSpPr txBox="1"/>
          <p:nvPr/>
        </p:nvSpPr>
        <p:spPr>
          <a:xfrm>
            <a:off x="3063450" y="27481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5" name="Google Shape;1405;p74"/>
          <p:cNvSpPr txBox="1"/>
          <p:nvPr/>
        </p:nvSpPr>
        <p:spPr>
          <a:xfrm>
            <a:off x="3063450" y="294820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6" name="Google Shape;1406;p74"/>
          <p:cNvSpPr txBox="1"/>
          <p:nvPr/>
        </p:nvSpPr>
        <p:spPr>
          <a:xfrm>
            <a:off x="9505550" y="2972075"/>
            <a:ext cx="10779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Cheaper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407" name="Google Shape;1407;p74"/>
          <p:cNvCxnSpPr/>
          <p:nvPr/>
        </p:nvCxnSpPr>
        <p:spPr>
          <a:xfrm>
            <a:off x="2384404" y="451523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8" name="Google Shape;1408;p74"/>
          <p:cNvSpPr txBox="1"/>
          <p:nvPr/>
        </p:nvSpPr>
        <p:spPr>
          <a:xfrm>
            <a:off x="2509849" y="381701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9" name="Google Shape;1409;p74"/>
          <p:cNvSpPr txBox="1"/>
          <p:nvPr/>
        </p:nvSpPr>
        <p:spPr>
          <a:xfrm>
            <a:off x="3009866" y="47693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10" name="Google Shape;1410;p74"/>
          <p:cNvCxnSpPr/>
          <p:nvPr/>
        </p:nvCxnSpPr>
        <p:spPr>
          <a:xfrm rot="10800000">
            <a:off x="2414254" y="48046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1" name="Google Shape;1411;p74"/>
          <p:cNvSpPr txBox="1"/>
          <p:nvPr/>
        </p:nvSpPr>
        <p:spPr>
          <a:xfrm>
            <a:off x="3087850" y="400407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12" name="Google Shape;1412;p74"/>
          <p:cNvSpPr txBox="1"/>
          <p:nvPr/>
        </p:nvSpPr>
        <p:spPr>
          <a:xfrm>
            <a:off x="3087850" y="420415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13" name="Google Shape;1413;p74"/>
          <p:cNvSpPr txBox="1"/>
          <p:nvPr/>
        </p:nvSpPr>
        <p:spPr>
          <a:xfrm>
            <a:off x="9505550" y="3459725"/>
            <a:ext cx="593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Mention that it is possible for AI to mention multiple tools at once, you execute them and make one response for them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75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20" name="Google Shape;1420;p75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1" name="Google Shape;1421;p75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2" name="Google Shape;1422;p75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3" name="Google Shape;1423;p75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24" name="Google Shape;1424;p75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5" name="Google Shape;1425;p75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6" name="Google Shape;1426;p75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7" name="Google Shape;1427;p75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28" name="Google Shape;1428;p75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29" name="Google Shape;1429;p75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0" name="Google Shape;1430;p75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31" name="Google Shape;1431;p75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75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5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75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75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75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7" name="Google Shape;1437;p75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75"/>
          <p:cNvCxnSpPr>
            <a:stCxn id="1434" idx="1"/>
            <a:endCxn id="1431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75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75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75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75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75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75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75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75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47" name="Google Shape;1447;p75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48" name="Google Shape;1448;p75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49" name="Google Shape;1449;p75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0" name="Google Shape;1450;p75"/>
          <p:cNvSpPr txBox="1"/>
          <p:nvPr/>
        </p:nvSpPr>
        <p:spPr>
          <a:xfrm>
            <a:off x="2485449" y="25610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51" name="Google Shape;1451;p75"/>
          <p:cNvSpPr txBox="1"/>
          <p:nvPr/>
        </p:nvSpPr>
        <p:spPr>
          <a:xfrm>
            <a:off x="29854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52" name="Google Shape;1452;p75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3" name="Google Shape;1453;p75"/>
          <p:cNvSpPr txBox="1"/>
          <p:nvPr/>
        </p:nvSpPr>
        <p:spPr>
          <a:xfrm>
            <a:off x="3063450" y="274812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54" name="Google Shape;1454;p75"/>
          <p:cNvSpPr txBox="1"/>
          <p:nvPr/>
        </p:nvSpPr>
        <p:spPr>
          <a:xfrm>
            <a:off x="3063450" y="294820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55" name="Google Shape;1455;p75"/>
          <p:cNvSpPr txBox="1"/>
          <p:nvPr/>
        </p:nvSpPr>
        <p:spPr>
          <a:xfrm>
            <a:off x="9505550" y="2972075"/>
            <a:ext cx="10779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Cheaper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456" name="Google Shape;1456;p75"/>
          <p:cNvCxnSpPr/>
          <p:nvPr/>
        </p:nvCxnSpPr>
        <p:spPr>
          <a:xfrm>
            <a:off x="2384404" y="451523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7" name="Google Shape;1457;p75"/>
          <p:cNvSpPr txBox="1"/>
          <p:nvPr/>
        </p:nvSpPr>
        <p:spPr>
          <a:xfrm>
            <a:off x="2509849" y="381701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Request + </a:t>
            </a: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move()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58" name="Google Shape;1458;p75"/>
          <p:cNvSpPr txBox="1"/>
          <p:nvPr/>
        </p:nvSpPr>
        <p:spPr>
          <a:xfrm>
            <a:off x="3009866" y="476933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59" name="Google Shape;1459;p75"/>
          <p:cNvCxnSpPr/>
          <p:nvPr/>
        </p:nvCxnSpPr>
        <p:spPr>
          <a:xfrm rot="10800000">
            <a:off x="2414254" y="48046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0" name="Google Shape;1460;p75"/>
          <p:cNvSpPr txBox="1"/>
          <p:nvPr/>
        </p:nvSpPr>
        <p:spPr>
          <a:xfrm>
            <a:off x="3087850" y="4004075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jump()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1" name="Google Shape;1461;p75"/>
          <p:cNvSpPr txBox="1"/>
          <p:nvPr/>
        </p:nvSpPr>
        <p:spPr>
          <a:xfrm>
            <a:off x="3087850" y="4204150"/>
            <a:ext cx="10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83F04"/>
                </a:solidFill>
                <a:latin typeface="Comfortaa"/>
                <a:ea typeface="Comfortaa"/>
                <a:cs typeface="Comfortaa"/>
                <a:sym typeface="Comfortaa"/>
              </a:rPr>
              <a:t>attack()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2" name="Google Shape;1462;p75"/>
          <p:cNvSpPr txBox="1"/>
          <p:nvPr/>
        </p:nvSpPr>
        <p:spPr>
          <a:xfrm>
            <a:off x="9505550" y="3459725"/>
            <a:ext cx="593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Mention that it is possible for AI to mention multiple tools at once, you execute them and make one response for them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76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69" name="Google Shape;1469;p76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0" name="Google Shape;1470;p76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1" name="Google Shape;1471;p76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2" name="Google Shape;1472;p76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3" name="Google Shape;1473;p76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4" name="Google Shape;1474;p76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5" name="Google Shape;1475;p76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6" name="Google Shape;1476;p76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7" name="Google Shape;1477;p76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8" name="Google Shape;1478;p76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9" name="Google Shape;1479;p76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80" name="Google Shape;1480;p76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6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6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76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76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6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6" name="Google Shape;1486;p76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76"/>
          <p:cNvCxnSpPr>
            <a:stCxn id="1483" idx="1"/>
            <a:endCxn id="1480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8" name="Google Shape;1488;p76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76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76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1" name="Google Shape;1491;p76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76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76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76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5" name="Google Shape;1495;p76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96" name="Google Shape;1496;p76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97" name="Google Shape;1497;p76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498" name="Google Shape;1498;p76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9" name="Google Shape;1499;p76"/>
          <p:cNvSpPr txBox="1"/>
          <p:nvPr/>
        </p:nvSpPr>
        <p:spPr>
          <a:xfrm>
            <a:off x="2985474" y="29639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Input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0" name="Google Shape;1500;p76"/>
          <p:cNvSpPr txBox="1"/>
          <p:nvPr/>
        </p:nvSpPr>
        <p:spPr>
          <a:xfrm>
            <a:off x="29854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Out</a:t>
            </a: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put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01" name="Google Shape;1501;p76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2" name="Google Shape;1502;p76"/>
          <p:cNvSpPr txBox="1"/>
          <p:nvPr/>
        </p:nvSpPr>
        <p:spPr>
          <a:xfrm>
            <a:off x="9505550" y="2972075"/>
            <a:ext cx="2487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Can scale this to anything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503" name="Google Shape;1503;p76"/>
          <p:cNvCxnSpPr/>
          <p:nvPr/>
        </p:nvCxnSpPr>
        <p:spPr>
          <a:xfrm>
            <a:off x="2384404" y="451523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76"/>
          <p:cNvCxnSpPr/>
          <p:nvPr/>
        </p:nvCxnSpPr>
        <p:spPr>
          <a:xfrm rot="10800000">
            <a:off x="2414254" y="48046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76"/>
          <p:cNvSpPr txBox="1"/>
          <p:nvPr/>
        </p:nvSpPr>
        <p:spPr>
          <a:xfrm>
            <a:off x="3748250" y="32761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6" name="Google Shape;1506;p76"/>
          <p:cNvSpPr txBox="1"/>
          <p:nvPr/>
        </p:nvSpPr>
        <p:spPr>
          <a:xfrm>
            <a:off x="2885649" y="42324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Input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7" name="Google Shape;1507;p76"/>
          <p:cNvSpPr txBox="1"/>
          <p:nvPr/>
        </p:nvSpPr>
        <p:spPr>
          <a:xfrm>
            <a:off x="4195075" y="45049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8" name="Google Shape;1508;p76"/>
          <p:cNvSpPr txBox="1"/>
          <p:nvPr/>
        </p:nvSpPr>
        <p:spPr>
          <a:xfrm>
            <a:off x="2885641" y="48046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Output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3" name="Google Shape;151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77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15" name="Google Shape;1515;p77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6" name="Google Shape;1516;p77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7" name="Google Shape;1517;p77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8" name="Google Shape;1518;p77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19" name="Google Shape;1519;p77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0" name="Google Shape;1520;p77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1" name="Google Shape;1521;p77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77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23" name="Google Shape;1523;p77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24" name="Google Shape;1524;p77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5" name="Google Shape;1525;p77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26" name="Google Shape;1526;p77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7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77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77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7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7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2" name="Google Shape;1532;p77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77"/>
          <p:cNvCxnSpPr>
            <a:stCxn id="1529" idx="1"/>
            <a:endCxn id="1526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77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77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6" name="Google Shape;1536;p77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77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77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9" name="Google Shape;1539;p77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0" name="Google Shape;1540;p77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77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42" name="Google Shape;1542;p77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43" name="Google Shape;1543;p77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44" name="Google Shape;1544;p77"/>
          <p:cNvCxnSpPr/>
          <p:nvPr/>
        </p:nvCxnSpPr>
        <p:spPr>
          <a:xfrm>
            <a:off x="2360004" y="325928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5" name="Google Shape;1545;p77"/>
          <p:cNvSpPr txBox="1"/>
          <p:nvPr/>
        </p:nvSpPr>
        <p:spPr>
          <a:xfrm>
            <a:off x="2666949" y="295481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Nearing red light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46" name="Google Shape;1546;p77"/>
          <p:cNvSpPr txBox="1"/>
          <p:nvPr/>
        </p:nvSpPr>
        <p:spPr>
          <a:xfrm>
            <a:off x="2985466" y="35133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Stop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47" name="Google Shape;1547;p77"/>
          <p:cNvCxnSpPr/>
          <p:nvPr/>
        </p:nvCxnSpPr>
        <p:spPr>
          <a:xfrm rot="10800000">
            <a:off x="2389854" y="354873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8" name="Google Shape;1548;p77"/>
          <p:cNvSpPr txBox="1"/>
          <p:nvPr/>
        </p:nvSpPr>
        <p:spPr>
          <a:xfrm>
            <a:off x="9505550" y="2972075"/>
            <a:ext cx="2487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Can scale this to anything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549" name="Google Shape;1549;p77"/>
          <p:cNvCxnSpPr/>
          <p:nvPr/>
        </p:nvCxnSpPr>
        <p:spPr>
          <a:xfrm>
            <a:off x="2384404" y="4515238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0" name="Google Shape;1550;p77"/>
          <p:cNvCxnSpPr/>
          <p:nvPr/>
        </p:nvCxnSpPr>
        <p:spPr>
          <a:xfrm rot="10800000">
            <a:off x="2414254" y="48046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1" name="Google Shape;1551;p77"/>
          <p:cNvSpPr txBox="1"/>
          <p:nvPr/>
        </p:nvSpPr>
        <p:spPr>
          <a:xfrm>
            <a:off x="3748250" y="32761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52" name="Google Shape;1552;p77"/>
          <p:cNvSpPr txBox="1"/>
          <p:nvPr/>
        </p:nvSpPr>
        <p:spPr>
          <a:xfrm>
            <a:off x="2885649" y="42324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Green light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53" name="Google Shape;1553;p77"/>
          <p:cNvSpPr txBox="1"/>
          <p:nvPr/>
        </p:nvSpPr>
        <p:spPr>
          <a:xfrm>
            <a:off x="3642550" y="45049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54" name="Google Shape;1554;p77"/>
          <p:cNvSpPr txBox="1"/>
          <p:nvPr/>
        </p:nvSpPr>
        <p:spPr>
          <a:xfrm>
            <a:off x="2985466" y="4804688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Drive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9" name="Google Shape;155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78"/>
          <p:cNvSpPr txBox="1"/>
          <p:nvPr/>
        </p:nvSpPr>
        <p:spPr>
          <a:xfrm>
            <a:off x="228600" y="1543575"/>
            <a:ext cx="1955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Tools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61" name="Google Shape;1561;p78"/>
          <p:cNvSpPr/>
          <p:nvPr/>
        </p:nvSpPr>
        <p:spPr>
          <a:xfrm>
            <a:off x="829054" y="2622525"/>
            <a:ext cx="1372500" cy="16479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2" name="Google Shape;1562;p78"/>
          <p:cNvSpPr/>
          <p:nvPr/>
        </p:nvSpPr>
        <p:spPr>
          <a:xfrm>
            <a:off x="943329" y="4032900"/>
            <a:ext cx="1166100" cy="152400"/>
          </a:xfrm>
          <a:prstGeom prst="roundRect">
            <a:avLst>
              <a:gd fmla="val 22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3" name="Google Shape;1563;p78"/>
          <p:cNvSpPr/>
          <p:nvPr/>
        </p:nvSpPr>
        <p:spPr>
          <a:xfrm>
            <a:off x="921304" y="2691350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4" name="Google Shape;1564;p78"/>
          <p:cNvSpPr txBox="1"/>
          <p:nvPr/>
        </p:nvSpPr>
        <p:spPr>
          <a:xfrm>
            <a:off x="894225" y="3970650"/>
            <a:ext cx="98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about Kyoto?</a:t>
            </a:r>
            <a:endParaRPr b="1" sz="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65" name="Google Shape;1565;p78"/>
          <p:cNvSpPr/>
          <p:nvPr/>
        </p:nvSpPr>
        <p:spPr>
          <a:xfrm>
            <a:off x="1905029" y="4061400"/>
            <a:ext cx="166200" cy="9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78"/>
          <p:cNvSpPr/>
          <p:nvPr/>
        </p:nvSpPr>
        <p:spPr>
          <a:xfrm>
            <a:off x="1086400" y="2751575"/>
            <a:ext cx="921000" cy="303300"/>
          </a:xfrm>
          <a:prstGeom prst="roundRect">
            <a:avLst>
              <a:gd fmla="val 7655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7" name="Google Shape;1567;p78"/>
          <p:cNvSpPr/>
          <p:nvPr/>
        </p:nvSpPr>
        <p:spPr>
          <a:xfrm>
            <a:off x="978050" y="3151525"/>
            <a:ext cx="878100" cy="485400"/>
          </a:xfrm>
          <a:prstGeom prst="roundRect">
            <a:avLst>
              <a:gd fmla="val 7655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8" name="Google Shape;1568;p78"/>
          <p:cNvSpPr txBox="1"/>
          <p:nvPr/>
        </p:nvSpPr>
        <p:spPr>
          <a:xfrm>
            <a:off x="1044550" y="2709575"/>
            <a:ext cx="10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What is the weather in Tokyo?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69" name="Google Shape;1569;p78"/>
          <p:cNvSpPr txBox="1"/>
          <p:nvPr/>
        </p:nvSpPr>
        <p:spPr>
          <a:xfrm>
            <a:off x="924500" y="3086425"/>
            <a:ext cx="9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Tokyo is currently around 19°C and partly cloudy</a:t>
            </a:r>
            <a:endParaRPr b="1" sz="7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70" name="Google Shape;1570;p78"/>
          <p:cNvSpPr/>
          <p:nvPr/>
        </p:nvSpPr>
        <p:spPr>
          <a:xfrm>
            <a:off x="4431254" y="2844975"/>
            <a:ext cx="1188000" cy="1275600"/>
          </a:xfrm>
          <a:prstGeom prst="roundRect">
            <a:avLst>
              <a:gd fmla="val 76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71" name="Google Shape;1571;p78"/>
          <p:cNvSpPr txBox="1"/>
          <p:nvPr/>
        </p:nvSpPr>
        <p:spPr>
          <a:xfrm>
            <a:off x="4658004" y="2873675"/>
            <a:ext cx="1242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5">
                <a:solidFill>
                  <a:srgbClr val="D9D9D9"/>
                </a:solidFill>
                <a:latin typeface="Comfortaa"/>
                <a:ea typeface="Comfortaa"/>
                <a:cs typeface="Comfortaa"/>
                <a:sym typeface="Comfortaa"/>
              </a:rPr>
              <a:t>LLM</a:t>
            </a:r>
            <a:endParaRPr b="1" sz="4600">
              <a:solidFill>
                <a:srgbClr val="D9D9D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72" name="Google Shape;1572;p78"/>
          <p:cNvSpPr/>
          <p:nvPr/>
        </p:nvSpPr>
        <p:spPr>
          <a:xfrm>
            <a:off x="4962054" y="3364062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78"/>
          <p:cNvSpPr/>
          <p:nvPr/>
        </p:nvSpPr>
        <p:spPr>
          <a:xfrm>
            <a:off x="4732004" y="3459737"/>
            <a:ext cx="139800" cy="1404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78"/>
          <p:cNvSpPr/>
          <p:nvPr/>
        </p:nvSpPr>
        <p:spPr>
          <a:xfrm>
            <a:off x="4971904" y="3591337"/>
            <a:ext cx="110400" cy="1107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78"/>
          <p:cNvSpPr/>
          <p:nvPr/>
        </p:nvSpPr>
        <p:spPr>
          <a:xfrm>
            <a:off x="5185104" y="36101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78"/>
          <p:cNvSpPr/>
          <p:nvPr/>
        </p:nvSpPr>
        <p:spPr>
          <a:xfrm>
            <a:off x="4738754" y="3730987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78"/>
          <p:cNvSpPr/>
          <p:nvPr/>
        </p:nvSpPr>
        <p:spPr>
          <a:xfrm>
            <a:off x="4963954" y="3828662"/>
            <a:ext cx="126300" cy="129600"/>
          </a:xfrm>
          <a:prstGeom prst="ellipse">
            <a:avLst/>
          </a:prstGeom>
          <a:noFill/>
          <a:ln cap="flat" cmpd="sng" w="381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8" name="Google Shape;1578;p78"/>
          <p:cNvCxnSpPr/>
          <p:nvPr/>
        </p:nvCxnSpPr>
        <p:spPr>
          <a:xfrm flipH="1" rot="10800000">
            <a:off x="4865056" y="3449123"/>
            <a:ext cx="110700" cy="459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78"/>
          <p:cNvCxnSpPr>
            <a:stCxn id="1575" idx="1"/>
            <a:endCxn id="1572" idx="5"/>
          </p:cNvCxnSpPr>
          <p:nvPr/>
        </p:nvCxnSpPr>
        <p:spPr>
          <a:xfrm rot="10800000">
            <a:off x="5081500" y="3483941"/>
            <a:ext cx="122100" cy="145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78"/>
          <p:cNvCxnSpPr/>
          <p:nvPr/>
        </p:nvCxnSpPr>
        <p:spPr>
          <a:xfrm flipH="1" rot="10800000">
            <a:off x="4832704" y="3505762"/>
            <a:ext cx="150900" cy="2178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78"/>
          <p:cNvCxnSpPr/>
          <p:nvPr/>
        </p:nvCxnSpPr>
        <p:spPr>
          <a:xfrm>
            <a:off x="4877679" y="3563062"/>
            <a:ext cx="87300" cy="486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78"/>
          <p:cNvCxnSpPr/>
          <p:nvPr/>
        </p:nvCxnSpPr>
        <p:spPr>
          <a:xfrm>
            <a:off x="4854281" y="3822773"/>
            <a:ext cx="96300" cy="4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78"/>
          <p:cNvCxnSpPr/>
          <p:nvPr/>
        </p:nvCxnSpPr>
        <p:spPr>
          <a:xfrm>
            <a:off x="5093204" y="3652262"/>
            <a:ext cx="81000" cy="84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78"/>
          <p:cNvCxnSpPr/>
          <p:nvPr/>
        </p:nvCxnSpPr>
        <p:spPr>
          <a:xfrm flipH="1">
            <a:off x="5024629" y="3718037"/>
            <a:ext cx="3600" cy="990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78"/>
          <p:cNvCxnSpPr/>
          <p:nvPr/>
        </p:nvCxnSpPr>
        <p:spPr>
          <a:xfrm>
            <a:off x="4849154" y="3604037"/>
            <a:ext cx="133200" cy="2292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78"/>
          <p:cNvCxnSpPr/>
          <p:nvPr/>
        </p:nvCxnSpPr>
        <p:spPr>
          <a:xfrm flipH="1">
            <a:off x="5081504" y="3736337"/>
            <a:ext cx="114000" cy="10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7" name="Google Shape;1587;p78"/>
          <p:cNvSpPr txBox="1"/>
          <p:nvPr/>
        </p:nvSpPr>
        <p:spPr>
          <a:xfrm>
            <a:off x="4622427" y="2436375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88" name="Google Shape;1588;p78"/>
          <p:cNvSpPr txBox="1"/>
          <p:nvPr/>
        </p:nvSpPr>
        <p:spPr>
          <a:xfrm>
            <a:off x="859265" y="2188300"/>
            <a:ext cx="13725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Chat</a:t>
            </a:r>
            <a:endParaRPr b="1" sz="41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89" name="Google Shape;1589;p78"/>
          <p:cNvSpPr txBox="1"/>
          <p:nvPr/>
        </p:nvSpPr>
        <p:spPr>
          <a:xfrm>
            <a:off x="228600" y="1003675"/>
            <a:ext cx="80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A61C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arge </a:t>
            </a:r>
            <a:r>
              <a:rPr b="1" lang="en" sz="4600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L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anguage </a:t>
            </a:r>
            <a:r>
              <a:rPr b="1" lang="en" sz="4600">
                <a:solidFill>
                  <a:srgbClr val="E69138"/>
                </a:solidFill>
                <a:latin typeface="Comfortaa"/>
                <a:ea typeface="Comfortaa"/>
                <a:cs typeface="Comfortaa"/>
                <a:sym typeface="Comfortaa"/>
              </a:rPr>
              <a:t>M</a:t>
            </a: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odel</a:t>
            </a:r>
            <a:endParaRPr b="1" sz="46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0" name="Google Shape;1590;p78"/>
          <p:cNvSpPr txBox="1"/>
          <p:nvPr/>
        </p:nvSpPr>
        <p:spPr>
          <a:xfrm>
            <a:off x="9505550" y="2972075"/>
            <a:ext cx="2487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Can scale this to anything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591" name="Google Shape;1591;p78"/>
          <p:cNvCxnSpPr/>
          <p:nvPr/>
        </p:nvCxnSpPr>
        <p:spPr>
          <a:xfrm rot="10800000">
            <a:off x="2359654" y="4907513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78"/>
          <p:cNvSpPr txBox="1"/>
          <p:nvPr/>
        </p:nvSpPr>
        <p:spPr>
          <a:xfrm>
            <a:off x="2590586" y="32326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mainEngineStart()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3" name="Google Shape;1593;p78"/>
          <p:cNvSpPr txBox="1"/>
          <p:nvPr/>
        </p:nvSpPr>
        <p:spPr>
          <a:xfrm>
            <a:off x="3580125" y="38637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4" name="Google Shape;1594;p78"/>
          <p:cNvSpPr txBox="1"/>
          <p:nvPr/>
        </p:nvSpPr>
        <p:spPr>
          <a:xfrm>
            <a:off x="2656191" y="4861963"/>
            <a:ext cx="141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deployLander()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95" name="Google Shape;1595;p78"/>
          <p:cNvCxnSpPr/>
          <p:nvPr/>
        </p:nvCxnSpPr>
        <p:spPr>
          <a:xfrm>
            <a:off x="2359991" y="2995325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6" name="Google Shape;1596;p78"/>
          <p:cNvSpPr txBox="1"/>
          <p:nvPr/>
        </p:nvSpPr>
        <p:spPr>
          <a:xfrm>
            <a:off x="2656199" y="267221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All systems OK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597" name="Google Shape;1597;p78"/>
          <p:cNvCxnSpPr/>
          <p:nvPr/>
        </p:nvCxnSpPr>
        <p:spPr>
          <a:xfrm rot="10800000">
            <a:off x="2343729" y="3197388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78"/>
          <p:cNvCxnSpPr/>
          <p:nvPr/>
        </p:nvCxnSpPr>
        <p:spPr>
          <a:xfrm>
            <a:off x="2359991" y="3900000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9" name="Google Shape;1599;p78"/>
          <p:cNvSpPr txBox="1"/>
          <p:nvPr/>
        </p:nvSpPr>
        <p:spPr>
          <a:xfrm>
            <a:off x="2590586" y="3594575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Altitude 50KM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600" name="Google Shape;1600;p78"/>
          <p:cNvCxnSpPr/>
          <p:nvPr/>
        </p:nvCxnSpPr>
        <p:spPr>
          <a:xfrm rot="10800000">
            <a:off x="2389854" y="4106163"/>
            <a:ext cx="1853100" cy="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1" name="Google Shape;1601;p78"/>
          <p:cNvSpPr txBox="1"/>
          <p:nvPr/>
        </p:nvSpPr>
        <p:spPr>
          <a:xfrm>
            <a:off x="2590586" y="4106163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stageSeparation()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602" name="Google Shape;1602;p78"/>
          <p:cNvCxnSpPr/>
          <p:nvPr/>
        </p:nvCxnSpPr>
        <p:spPr>
          <a:xfrm>
            <a:off x="2329791" y="4671713"/>
            <a:ext cx="19128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3" name="Google Shape;1603;p78"/>
          <p:cNvSpPr txBox="1"/>
          <p:nvPr/>
        </p:nvSpPr>
        <p:spPr>
          <a:xfrm>
            <a:off x="2625999" y="4348600"/>
            <a:ext cx="185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Approach moon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4" name="Google Shape;1604;p78"/>
          <p:cNvSpPr txBox="1"/>
          <p:nvPr/>
        </p:nvSpPr>
        <p:spPr>
          <a:xfrm>
            <a:off x="3633700" y="294296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5" name="Google Shape;1605;p78"/>
          <p:cNvSpPr txBox="1"/>
          <p:nvPr/>
        </p:nvSpPr>
        <p:spPr>
          <a:xfrm>
            <a:off x="3642550" y="4617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Process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6" name="Google Shape;1606;p78"/>
          <p:cNvSpPr txBox="1"/>
          <p:nvPr/>
        </p:nvSpPr>
        <p:spPr>
          <a:xfrm>
            <a:off x="9464157" y="3513400"/>
            <a:ext cx="257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This stuff is not rocket science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1" name="Google Shape;161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79"/>
          <p:cNvSpPr txBox="1"/>
          <p:nvPr/>
        </p:nvSpPr>
        <p:spPr>
          <a:xfrm>
            <a:off x="9641150" y="2479950"/>
            <a:ext cx="889140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use_emulator presses buttons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navigator can be used alternatively to say where to go and code figures out buttons needed</a:t>
            </a:r>
            <a:b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b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API calls are made every few and so minutes</a:t>
            </a:r>
            <a:b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b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API call sends screenshot + game stats (extracted directly from memory) + prompt + history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 exec replies with response to make sure it doesn’t need to execute anything again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13" name="Google Shape;1613;p79"/>
          <p:cNvSpPr txBox="1"/>
          <p:nvPr/>
        </p:nvSpPr>
        <p:spPr>
          <a:xfrm>
            <a:off x="651150" y="1049950"/>
            <a:ext cx="7747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plays Pokemon:</a:t>
            </a:r>
            <a:br>
              <a:rPr lang="en"/>
            </a:b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https://www.youtube.com/watch?v=pAkElOzD5Rw</a:t>
            </a:r>
            <a:br>
              <a:rPr lang="en"/>
            </a:br>
            <a:br>
              <a:rPr lang="en"/>
            </a:br>
            <a:r>
              <a:rPr lang="en"/>
              <a:t>Architecture:</a:t>
            </a:r>
            <a:br>
              <a:rPr lang="en"/>
            </a:br>
            <a:br>
              <a:rPr lang="en"/>
            </a:br>
            <a:r>
              <a:rPr lang="en" u="sng">
                <a:solidFill>
                  <a:schemeClr val="hlink"/>
                </a:solidFill>
                <a:hlinkClick r:id="rId5"/>
              </a:rPr>
              <a:t>https://excalidraw.com/#json=WrM9ViixPu2je5cVJZGCe,no_UoONhF6UxyMpTqltYkg</a:t>
            </a:r>
            <a:br>
              <a:rPr lang="en"/>
            </a:br>
            <a:br>
              <a:rPr lang="en"/>
            </a:br>
            <a:r>
              <a:rPr lang="en"/>
              <a:t>Code: </a:t>
            </a:r>
            <a:br>
              <a:rPr lang="en"/>
            </a:br>
            <a:br>
              <a:rPr lang="en"/>
            </a:br>
            <a:r>
              <a:rPr lang="en"/>
              <a:t>https://github.com/davidhershey/ClaudePlaysPokemonStarter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161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80"/>
          <p:cNvSpPr txBox="1"/>
          <p:nvPr/>
        </p:nvSpPr>
        <p:spPr>
          <a:xfrm>
            <a:off x="9505550" y="2972075"/>
            <a:ext cx="24873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Can scale this to anything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20" name="Google Shape;1620;p80"/>
          <p:cNvSpPr txBox="1"/>
          <p:nvPr/>
        </p:nvSpPr>
        <p:spPr>
          <a:xfrm>
            <a:off x="9464157" y="3513400"/>
            <a:ext cx="257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2525"/>
                </a:solidFill>
                <a:latin typeface="Comfortaa"/>
                <a:ea typeface="Comfortaa"/>
                <a:cs typeface="Comfortaa"/>
                <a:sym typeface="Comfortaa"/>
              </a:rPr>
              <a:t>This stuff is not rocket science</a:t>
            </a:r>
            <a:endParaRPr b="1" sz="900">
              <a:solidFill>
                <a:srgbClr val="783F04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1" name="Google Shape;1621;p80"/>
          <p:cNvSpPr txBox="1"/>
          <p:nvPr/>
        </p:nvSpPr>
        <p:spPr>
          <a:xfrm>
            <a:off x="111625" y="110925"/>
            <a:ext cx="790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Today </a:t>
            </a:r>
            <a:r>
              <a:rPr b="1" lang="en" sz="30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今日</a:t>
            </a:r>
            <a:endParaRPr b="1" sz="30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6" name="Google Shape;162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71800" y="4107138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81"/>
          <p:cNvSpPr txBox="1"/>
          <p:nvPr/>
        </p:nvSpPr>
        <p:spPr>
          <a:xfrm>
            <a:off x="258475" y="206450"/>
            <a:ext cx="32676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55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Ideas アイデア</a:t>
            </a:r>
            <a:endParaRPr b="1" sz="255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8" name="Google Shape;1628;p81"/>
          <p:cNvSpPr txBox="1"/>
          <p:nvPr/>
        </p:nvSpPr>
        <p:spPr>
          <a:xfrm>
            <a:off x="360210" y="2733200"/>
            <a:ext cx="57594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Functions/Tools - most AI provider APIs have it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29" name="Google Shape;1629;p81"/>
          <p:cNvSpPr txBox="1"/>
          <p:nvPr/>
        </p:nvSpPr>
        <p:spPr>
          <a:xfrm>
            <a:off x="360205" y="3601700"/>
            <a:ext cx="1488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Agentic airport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0" name="Google Shape;1630;p81"/>
          <p:cNvSpPr txBox="1"/>
          <p:nvPr/>
        </p:nvSpPr>
        <p:spPr>
          <a:xfrm>
            <a:off x="4573501" y="2733188"/>
            <a:ext cx="4458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Tools/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MCP (via Protocol)/</a:t>
            </a:r>
            <a:r>
              <a:rPr b="1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Programmatic tools</a:t>
            </a:r>
            <a:endParaRPr b="1"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b="1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Passing code to build the tool</a:t>
            </a:r>
            <a:endParaRPr b="1"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1" name="Google Shape;1631;p81"/>
          <p:cNvSpPr txBox="1"/>
          <p:nvPr/>
        </p:nvSpPr>
        <p:spPr>
          <a:xfrm>
            <a:off x="360200" y="3139525"/>
            <a:ext cx="58611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Concept of the orchestrator - tool loop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2" name="Google Shape;1632;p81"/>
          <p:cNvSpPr txBox="1"/>
          <p:nvPr/>
        </p:nvSpPr>
        <p:spPr>
          <a:xfrm>
            <a:off x="1984375" y="3762763"/>
            <a:ext cx="7421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Multiple agents, minimize context -&gt; calls to specialised agents (basically how skills works)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3" name="Google Shape;1633;p81"/>
          <p:cNvSpPr txBox="1"/>
          <p:nvPr/>
        </p:nvSpPr>
        <p:spPr>
          <a:xfrm>
            <a:off x="1984372" y="4430000"/>
            <a:ext cx="7421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Call agents in parallel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4" name="Google Shape;1634;p81"/>
          <p:cNvSpPr txBox="1"/>
          <p:nvPr/>
        </p:nvSpPr>
        <p:spPr>
          <a:xfrm>
            <a:off x="2032400" y="4117800"/>
            <a:ext cx="563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 aware that AI is not deterministic, try to use hard rules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5" name="Google Shape;1635;p81"/>
          <p:cNvSpPr txBox="1"/>
          <p:nvPr/>
        </p:nvSpPr>
        <p:spPr>
          <a:xfrm>
            <a:off x="309000" y="1177375"/>
            <a:ext cx="736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Traditional AI chats -&gt; Ultimately it can pilot a plane or fly a rocket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6" name="Google Shape;1636;p81"/>
          <p:cNvSpPr txBox="1"/>
          <p:nvPr/>
        </p:nvSpPr>
        <p:spPr>
          <a:xfrm>
            <a:off x="404024" y="16104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Input -&gt; process -&gt; output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7" name="Google Shape;1637;p81"/>
          <p:cNvSpPr txBox="1"/>
          <p:nvPr/>
        </p:nvSpPr>
        <p:spPr>
          <a:xfrm>
            <a:off x="360200" y="809550"/>
            <a:ext cx="77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By the end of this presentation you will know how to automate the world around you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8" name="Google Shape;1638;p81"/>
          <p:cNvSpPr txBox="1"/>
          <p:nvPr/>
        </p:nvSpPr>
        <p:spPr>
          <a:xfrm>
            <a:off x="404024" y="19966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Examples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9" name="Google Shape;1639;p81"/>
          <p:cNvSpPr txBox="1"/>
          <p:nvPr/>
        </p:nvSpPr>
        <p:spPr>
          <a:xfrm>
            <a:off x="404025" y="2385025"/>
            <a:ext cx="5417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Let’s move to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API -&gt; simple chat response example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0" name="Google Shape;1640;p81"/>
          <p:cNvSpPr txBox="1"/>
          <p:nvPr/>
        </p:nvSpPr>
        <p:spPr>
          <a:xfrm>
            <a:off x="3987800" y="3139525"/>
            <a:ext cx="3574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is pretty much how Agents work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1" name="Google Shape;1641;p81"/>
          <p:cNvSpPr txBox="1"/>
          <p:nvPr/>
        </p:nvSpPr>
        <p:spPr>
          <a:xfrm>
            <a:off x="360205" y="4041600"/>
            <a:ext cx="1076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Pokemon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2" name="Google Shape;1642;p81"/>
          <p:cNvSpPr txBox="1"/>
          <p:nvPr/>
        </p:nvSpPr>
        <p:spPr>
          <a:xfrm>
            <a:off x="360205" y="4430000"/>
            <a:ext cx="1076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Webcam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3" name="Google Shape;1643;p81"/>
          <p:cNvSpPr txBox="1"/>
          <p:nvPr/>
        </p:nvSpPr>
        <p:spPr>
          <a:xfrm>
            <a:off x="1986650" y="3545850"/>
            <a:ext cx="492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Tips: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4" name="Google Shape;1644;p81"/>
          <p:cNvSpPr txBox="1"/>
          <p:nvPr/>
        </p:nvSpPr>
        <p:spPr>
          <a:xfrm>
            <a:off x="1984372" y="5459975"/>
            <a:ext cx="7421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Websockets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5" name="Google Shape;1645;p81"/>
          <p:cNvSpPr txBox="1"/>
          <p:nvPr/>
        </p:nvSpPr>
        <p:spPr>
          <a:xfrm>
            <a:off x="1984375" y="5136050"/>
            <a:ext cx="563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Models will get smarter, faster, cheaper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6" name="Google Shape;1646;p81"/>
          <p:cNvSpPr txBox="1"/>
          <p:nvPr/>
        </p:nvSpPr>
        <p:spPr>
          <a:xfrm>
            <a:off x="2018300" y="4847450"/>
            <a:ext cx="720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Future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7" name="Google Shape;1647;p81"/>
          <p:cNvSpPr txBox="1"/>
          <p:nvPr/>
        </p:nvSpPr>
        <p:spPr>
          <a:xfrm>
            <a:off x="1984372" y="5783900"/>
            <a:ext cx="7421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Edge computing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8" name="Google Shape;1648;p81"/>
          <p:cNvSpPr txBox="1"/>
          <p:nvPr/>
        </p:nvSpPr>
        <p:spPr>
          <a:xfrm>
            <a:off x="-741415" y="4783025"/>
            <a:ext cx="4267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Involve audience in webcam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9" name="Google Shape;1649;p81"/>
          <p:cNvSpPr txBox="1"/>
          <p:nvPr/>
        </p:nvSpPr>
        <p:spPr>
          <a:xfrm>
            <a:off x="-741415" y="5206800"/>
            <a:ext cx="42675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Play game with webcam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50" name="Google Shape;1650;p81"/>
          <p:cNvSpPr txBox="1"/>
          <p:nvPr/>
        </p:nvSpPr>
        <p:spPr>
          <a:xfrm>
            <a:off x="3938525" y="4461713"/>
            <a:ext cx="563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API outages can happen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8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